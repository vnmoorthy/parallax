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(20 s). Every analytics team has the same bottleneck: one analyst, one query at a time, one hypothesis at a time. Parallax removes it: fork the database once per hypothesis, let a swarm of agents explore all of them at once, write one cited answer, remember what it learned.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question is really eight questions: by plan, by region, feedback text, idle days, NPS vs tickets, MRR at risk. One analyst does them serially, about a day. Pointing eight agents at one shared database does not help: temp tables and indexes collide and nobody can reproduce what any agent saw. And when the analyst is done, the insight lives in a slide, not in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 the database per hypothesis. One root database per run; the planner, primed by memory, proposes N hypotheses; the root is forked once per hypothesis. N agents run concurrently, each with its own snapshot, indexes, scratch tables and notes. A synthesizer writes one report where every claim cites the branch and the SQL that produced it. The run is written to Cognee, and recalled before the next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here. Status stepper provision -&gt; plan -&gt; explore -&gt; synthesize -&gt; done. Metrics strip: databases, forks, queries, peak concurrency, p50/p95, LLM calls by provider, time to first finding. Lineage tree on the left is the lineage API response, one node per real fork. Agent cards in the middle: think, SQL / BM25 / vector, observe, up to four steps, then a finding with a confidence score. Report on the right with [branch:id] chips that highlight the branch that produced the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Next.js Mission Control talks to a FastAPI orchestrator; the UI is driven by an SSE stream that replays a per-run buffer and then streams live, so a refresh or a shared link rebuilds the same Mission Control. The orchestrator only talks to a DataEngine protocol: Hotdata over HTTP or DuckDB files locally. LLM calls go through a router with a per-call fallback chain and provider attribution. Memory is a protocol too: Cognee graph, or local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Hotdata is the data plane. One root database per run, loaded with inline CSV loads; one fork per hypothesis via POST /databases/{id}/fork; the lineage tree in the UI is GET /lineage. Each branch gets a BM25 index on the text column and a vector index on a data_vec copy, created lazily because forks do not carry indexes. Agent notes are per-database context docs; findings land in a per-branch findings table. Burst mode fires 100 concurrent reads across the forks: p50 15 ms, p95 30 ms, 50 in flight, measured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pipes. parallax-llm.pipe is the gateway: every planner, agent and synthesizer call the backend makes goes through it with the rocketride SDK: use() once, chat() per call. parallax-analyst.pipe is the deployable analyst: an agent_rocketride node controlling Claude, internal memory, a db_hotdata tool with execute allowed, and a tool_cognee node doing GRAPH_COMPLETION on the parallax dataset. Point ROCKETRIDE_URI at api.rocketride.ai and it runs on Cloud; the same file runs on the local Docker engine. Three pipes, all validated by the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every run, the question and findings go to Cognee with cognee.add plus cognify in a background task, node sets per dataset and per run. Before every plan, cognee.search with GRAPH_COMPLETION; the hits are streamed as run.recalled and injected into the planner prompt, so the second run on a dataset starts from what the first one learned. The /memory page shows the graph and a recall box. Snyk runs snyk test and snyk code test on every push and PR; SQL is read-only by construction and by an orchestrator guard: SELECT or WITH only, LIMIT injected; forks expire after 24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Numbers, not adjectives, all from real local runs today. A burst of 100 concurrent reads across 5 forked databases: p50 15 ms, p95 30 ms, 50 in flight. A 4-agent run made 110 queries with peak concurrency 50. Time to first finding 1.2 s after moving embedding off the critical path. 65 backend tests pass. Three bundled datasets: 6,000 SaaS customers, 8,000 e-commerce orders, 6,102 real SF Airbnb listings. Three RocketRide pipelines validated by the engine. Zero-key mode runs the identical code path offline on DuckDB and Ollama. Next: merge branches, bulk-create 10k tenant databases, a deploy button in the Pipeline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(15 s). Clone, make setup, make demo: no keys, DuckDB forks and a fake LLM, same UI, same events. Add keys and the same code runs on Hotdata, RocketRide Cloud and Cognee. Repo: github.com/vnmoorthy/parallax. Thanks to RocketRide, Hotdata, Cognee, Snyk, Devnovate and AWS Builder Loft. Parallax: many agents, many branches, one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/ 10</a:t>
            </a:r>
            <a:endParaRPr lang="en-US" sz="850" dirty="0"/>
          </a:p>
        </p:txBody>
      </p:sp>
      <p:pic>
        <p:nvPicPr>
          <p:cNvPr id="4" name="Image 0" descr="/private/tmp/claude-501/-Users-moorthy-Downloads-Projects-Data-AI-Hackathon/41860f9d-7adf-4e2e-ae5e-3f746a1c44d7/scratchpad/deckbuild/assets/forkar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594360"/>
            <a:ext cx="4206240" cy="2345788"/>
          </a:xfrm>
          <a:prstGeom prst="rect">
            <a:avLst/>
          </a:prstGeom>
        </p:spPr>
      </p:pic>
      <p:pic>
        <p:nvPicPr>
          <p:cNvPr id="5" name="Image 1" descr="/private/tmp/claude-501/-Users-moorthy-Downloads-Projects-Data-AI-Hackathon/41860f9d-7adf-4e2e-ae5e-3f746a1c44d7/scratchpad/deckbuild/assets/wor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914400"/>
            <a:ext cx="3200400" cy="96981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" y="197510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Many agents. Many branches.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answer.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27249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multi-agent data-analysis swarm. Fork a database per hypothesis and explore them all at once.</a:t>
            </a:r>
            <a:endParaRPr lang="en-US" sz="1200" dirty="0"/>
          </a:p>
        </p:txBody>
      </p:sp>
      <p:pic>
        <p:nvPicPr>
          <p:cNvPr id="8" name="Image 2" descr="/private/tmp/claude-501/-Users-moorthy-Downloads-Projects-Data-AI-Hackathon/41860f9d-7adf-4e2e-ae5e-3f746a1c44d7/scratchpad/deckbuild/assets/pil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73552"/>
            <a:ext cx="3291840" cy="23433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66928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&amp; AI Hackathon 2026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566928" y="39136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7E8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job. Real AI. Real scale.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566928" y="41422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Builder Loft, San Francisco · Sept 11 · presented by Devnovate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566928" y="43708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Moorthy</a:t>
            </a:r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·  github.com/vnmoorthy/parallax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4800600" y="43708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RocketRide · Hotdata · Cognee · Snyk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· THE PROBLEM · A REAL JOB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analyst. One query. One hypothesis at a time.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4416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2984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“Why are customers churning and where is revenue at risk?”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901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eight questions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786384" cy="786384"/>
          </a:xfrm>
          <a:prstGeom prst="roundRect">
            <a:avLst>
              <a:gd name="adj" fmla="val 9302"/>
            </a:avLst>
          </a:prstGeom>
          <a:solidFill>
            <a:srgbClr val="131B2E"/>
          </a:solidFill>
          <a:ln w="9525">
            <a:solidFill>
              <a:srgbClr val="1F27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712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318211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289304" y="3136392"/>
            <a:ext cx="182880" cy="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1517904" y="2743200"/>
            <a:ext cx="786384" cy="786384"/>
          </a:xfrm>
          <a:prstGeom prst="roundRect">
            <a:avLst>
              <a:gd name="adj" fmla="val 9302"/>
            </a:avLst>
          </a:prstGeom>
          <a:solidFill>
            <a:srgbClr val="131B2E"/>
          </a:solidFill>
          <a:ln w="9525">
            <a:solidFill>
              <a:srgbClr val="1F27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28712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17904" y="318211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350008" y="3136392"/>
            <a:ext cx="182880" cy="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2578608" y="2743200"/>
            <a:ext cx="786384" cy="786384"/>
          </a:xfrm>
          <a:prstGeom prst="roundRect">
            <a:avLst>
              <a:gd name="adj" fmla="val 9302"/>
            </a:avLst>
          </a:prstGeom>
          <a:solidFill>
            <a:srgbClr val="131B2E"/>
          </a:solidFill>
          <a:ln w="9525">
            <a:solidFill>
              <a:srgbClr val="1F274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287121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578608" y="318211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feedback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410712" y="3136392"/>
            <a:ext cx="182880" cy="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3639312" y="2743200"/>
            <a:ext cx="786384" cy="786384"/>
          </a:xfrm>
          <a:prstGeom prst="roundRect">
            <a:avLst>
              <a:gd name="adj" fmla="val 9302"/>
            </a:avLst>
          </a:prstGeom>
          <a:solidFill>
            <a:srgbClr val="131B2E"/>
          </a:solidFill>
          <a:ln w="9525">
            <a:solidFill>
              <a:srgbClr val="1F274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3632" y="287121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639312" y="318211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idle days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471416" y="3136392"/>
            <a:ext cx="182880" cy="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4700016" y="2743200"/>
            <a:ext cx="786384" cy="786384"/>
          </a:xfrm>
          <a:prstGeom prst="roundRect">
            <a:avLst>
              <a:gd name="adj" fmla="val 9302"/>
            </a:avLst>
          </a:prstGeom>
          <a:solidFill>
            <a:srgbClr val="131B2E"/>
          </a:solidFill>
          <a:ln w="9525">
            <a:solidFill>
              <a:srgbClr val="1F274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4336" y="287121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00016" y="318211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NPS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532120" y="3136392"/>
            <a:ext cx="182880" cy="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5760720" y="2743200"/>
            <a:ext cx="457200" cy="786384"/>
          </a:xfrm>
          <a:prstGeom prst="roundRect">
            <a:avLst>
              <a:gd name="adj" fmla="val 12000"/>
            </a:avLst>
          </a:prstGeom>
          <a:solidFill>
            <a:srgbClr val="07090F">
              <a:alpha val="0"/>
            </a:srgbClr>
          </a:solidFill>
          <a:ln w="12700">
            <a:solidFill>
              <a:srgbClr val="1F2740"/>
            </a:solidFill>
            <a:prstDash val="dash"/>
          </a:ln>
        </p:spPr>
      </p:sp>
      <p:sp>
        <p:nvSpPr>
          <p:cNvPr id="31" name="Text 23"/>
          <p:cNvSpPr txBox="1"/>
          <p:nvPr/>
        </p:nvSpPr>
        <p:spPr>
          <a:xfrm>
            <a:off x="5760720" y="274320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…</a:t>
            </a:r>
            <a:endParaRPr lang="en-US" sz="16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114800"/>
            <a:ext cx="274320" cy="27432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68680" y="4187952"/>
            <a:ext cx="561213" cy="146304"/>
          </a:xfrm>
          <a:prstGeom prst="rect">
            <a:avLst/>
          </a:prstGeom>
          <a:solidFill>
            <a:srgbClr val="22D3EE">
              <a:alpha val="65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1457325" y="4187952"/>
            <a:ext cx="561213" cy="146304"/>
          </a:xfrm>
          <a:prstGeom prst="rect">
            <a:avLst/>
          </a:prstGeom>
          <a:solidFill>
            <a:srgbClr val="6366F1">
              <a:alpha val="61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2045970" y="4187952"/>
            <a:ext cx="561213" cy="146304"/>
          </a:xfrm>
          <a:prstGeom prst="rect">
            <a:avLst/>
          </a:prstGeom>
          <a:solidFill>
            <a:srgbClr val="22D3EE">
              <a:alpha val="57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2634615" y="4187952"/>
            <a:ext cx="561213" cy="146304"/>
          </a:xfrm>
          <a:prstGeom prst="rect">
            <a:avLst/>
          </a:prstGeom>
          <a:solidFill>
            <a:srgbClr val="6366F1">
              <a:alpha val="53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3223260" y="4187952"/>
            <a:ext cx="561213" cy="146304"/>
          </a:xfrm>
          <a:prstGeom prst="rect">
            <a:avLst/>
          </a:prstGeom>
          <a:solidFill>
            <a:srgbClr val="22D3EE">
              <a:alpha val="49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3811905" y="4187952"/>
            <a:ext cx="561213" cy="146304"/>
          </a:xfrm>
          <a:prstGeom prst="rect">
            <a:avLst/>
          </a:prstGeom>
          <a:solidFill>
            <a:srgbClr val="6366F1">
              <a:alpha val="45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400550" y="4187952"/>
            <a:ext cx="561213" cy="146304"/>
          </a:xfrm>
          <a:prstGeom prst="rect">
            <a:avLst/>
          </a:prstGeom>
          <a:solidFill>
            <a:srgbClr val="22D3EE">
              <a:alpha val="41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989195" y="4187952"/>
            <a:ext cx="561213" cy="146304"/>
          </a:xfrm>
          <a:prstGeom prst="rect">
            <a:avLst/>
          </a:prstGeom>
          <a:solidFill>
            <a:srgbClr val="6366F1">
              <a:alpha val="37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5623560" y="4114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a day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6446520" y="1188720"/>
            <a:ext cx="475488" cy="475488"/>
          </a:xfrm>
          <a:prstGeom prst="ellipse">
            <a:avLst/>
          </a:prstGeom>
          <a:solidFill>
            <a:srgbClr val="22D3EE">
              <a:alpha val="14000"/>
            </a:srgbClr>
          </a:solidFill>
          <a:ln w="9525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392" y="1307592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040880" y="1207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Serial hypotheses</a:t>
            </a:r>
            <a:endParaRPr lang="en-US" sz="1300" dirty="0"/>
          </a:p>
        </p:txBody>
      </p:sp>
      <p:sp>
        <p:nvSpPr>
          <p:cNvPr id="45" name="Shape 35"/>
          <p:cNvSpPr/>
          <p:nvPr/>
        </p:nvSpPr>
        <p:spPr>
          <a:xfrm>
            <a:off x="6446520" y="2240280"/>
            <a:ext cx="475488" cy="475488"/>
          </a:xfrm>
          <a:prstGeom prst="ellipse">
            <a:avLst/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5392" y="2359152"/>
            <a:ext cx="237744" cy="23774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040880" y="22585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Agents collide on one DB</a:t>
            </a:r>
            <a:endParaRPr lang="en-US" sz="1300" dirty="0"/>
          </a:p>
        </p:txBody>
      </p:sp>
      <p:sp>
        <p:nvSpPr>
          <p:cNvPr id="48" name="Shape 37"/>
          <p:cNvSpPr/>
          <p:nvPr/>
        </p:nvSpPr>
        <p:spPr>
          <a:xfrm>
            <a:off x="6446520" y="3291840"/>
            <a:ext cx="475488" cy="475488"/>
          </a:xfrm>
          <a:prstGeom prst="ellipse">
            <a:avLst/>
          </a:prstGeom>
          <a:solidFill>
            <a:srgbClr val="A5B4FC">
              <a:alpha val="14000"/>
            </a:srgbClr>
          </a:solidFill>
          <a:ln w="9525">
            <a:solidFill>
              <a:srgbClr val="A5B4FC">
                <a:alpha val="40000"/>
              </a:srgbClr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392" y="3410712"/>
            <a:ext cx="237744" cy="237744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04088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Insights don’t persist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· THE IDEA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Fork the database per hypothesis.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124712" y="1490472"/>
            <a:ext cx="585216" cy="585216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600200"/>
            <a:ext cx="365760" cy="365760"/>
          </a:xfrm>
          <a:prstGeom prst="ellipse">
            <a:avLst/>
          </a:prstGeom>
          <a:solidFill>
            <a:srgbClr val="07090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0510" y="1706270"/>
            <a:ext cx="153619" cy="153619"/>
          </a:xfrm>
          <a:prstGeom prst="ellipse">
            <a:avLst/>
          </a:prstGeom>
          <a:solidFill>
            <a:srgbClr val="22D3EE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618488" y="1298448"/>
            <a:ext cx="1783080" cy="484632"/>
          </a:xfrm>
          <a:prstGeom prst="line">
            <a:avLst/>
          </a:prstGeom>
          <a:noFill/>
          <a:ln w="1587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1298448"/>
            <a:ext cx="1344168" cy="484632"/>
          </a:xfrm>
          <a:prstGeom prst="line">
            <a:avLst/>
          </a:prstGeom>
          <a:noFill/>
          <a:ln w="12700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4136" y="1152144"/>
            <a:ext cx="292608" cy="292608"/>
          </a:xfrm>
          <a:prstGeom prst="ellipse">
            <a:avLst/>
          </a:prstGeom>
          <a:solidFill>
            <a:srgbClr val="A5B4FC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207008"/>
            <a:ext cx="182880" cy="182880"/>
          </a:xfrm>
          <a:prstGeom prst="ellipse">
            <a:avLst/>
          </a:prstGeom>
          <a:solidFill>
            <a:srgbClr val="07090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2035" y="1260043"/>
            <a:ext cx="76810" cy="76810"/>
          </a:xfrm>
          <a:prstGeom prst="ellipse">
            <a:avLst/>
          </a:prstGeom>
          <a:solidFill>
            <a:srgbClr val="A5B4FC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618488" y="1618488"/>
            <a:ext cx="1783080" cy="164592"/>
          </a:xfrm>
          <a:prstGeom prst="line">
            <a:avLst/>
          </a:prstGeom>
          <a:noFill/>
          <a:ln w="1587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1618488"/>
            <a:ext cx="1344168" cy="164592"/>
          </a:xfrm>
          <a:prstGeom prst="line">
            <a:avLst/>
          </a:prstGeom>
          <a:noFill/>
          <a:ln w="12700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74136" y="1472184"/>
            <a:ext cx="292608" cy="292608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527048"/>
            <a:ext cx="182880" cy="182880"/>
          </a:xfrm>
          <a:prstGeom prst="ellipse">
            <a:avLst/>
          </a:prstGeom>
          <a:solidFill>
            <a:srgbClr val="07090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82035" y="1580083"/>
            <a:ext cx="76810" cy="76810"/>
          </a:xfrm>
          <a:prstGeom prst="ellipse">
            <a:avLst/>
          </a:prstGeom>
          <a:solidFill>
            <a:srgbClr val="22D3EE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18488" y="1783080"/>
            <a:ext cx="1783080" cy="164592"/>
          </a:xfrm>
          <a:prstGeom prst="line">
            <a:avLst/>
          </a:prstGeom>
          <a:noFill/>
          <a:ln w="1587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639312" y="1783080"/>
            <a:ext cx="1344168" cy="164592"/>
          </a:xfrm>
          <a:prstGeom prst="line">
            <a:avLst/>
          </a:prstGeom>
          <a:noFill/>
          <a:ln w="12700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74136" y="1801368"/>
            <a:ext cx="292608" cy="292608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856232"/>
            <a:ext cx="182880" cy="182880"/>
          </a:xfrm>
          <a:prstGeom prst="ellipse">
            <a:avLst/>
          </a:prstGeom>
          <a:solidFill>
            <a:srgbClr val="07090F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2035" y="1909267"/>
            <a:ext cx="76810" cy="76810"/>
          </a:xfrm>
          <a:prstGeom prst="ellipse">
            <a:avLst/>
          </a:prstGeom>
          <a:solidFill>
            <a:srgbClr val="34D399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18488" y="1783080"/>
            <a:ext cx="1783080" cy="484632"/>
          </a:xfrm>
          <a:prstGeom prst="line">
            <a:avLst/>
          </a:prstGeom>
          <a:noFill/>
          <a:ln w="1587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3639312" y="1783080"/>
            <a:ext cx="1344168" cy="484632"/>
          </a:xfrm>
          <a:prstGeom prst="line">
            <a:avLst/>
          </a:prstGeom>
          <a:noFill/>
          <a:ln w="12700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74136" y="2121408"/>
            <a:ext cx="292608" cy="292608"/>
          </a:xfrm>
          <a:prstGeom prst="ellipse">
            <a:avLst/>
          </a:prstGeom>
          <a:solidFill>
            <a:srgbClr val="FBBF24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2176272"/>
            <a:ext cx="182880" cy="182880"/>
          </a:xfrm>
          <a:prstGeom prst="ellipse">
            <a:avLst/>
          </a:prstGeom>
          <a:solidFill>
            <a:srgbClr val="07090F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2035" y="2229307"/>
            <a:ext cx="76810" cy="76810"/>
          </a:xfrm>
          <a:prstGeom prst="ellipse">
            <a:avLst/>
          </a:prstGeom>
          <a:solidFill>
            <a:srgbClr val="FBBF24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1481328"/>
            <a:ext cx="1280160" cy="603504"/>
          </a:xfrm>
          <a:prstGeom prst="roundRect">
            <a:avLst>
              <a:gd name="adj" fmla="val 12121"/>
            </a:avLst>
          </a:prstGeom>
          <a:solidFill>
            <a:srgbClr val="131B2E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627632"/>
            <a:ext cx="310896" cy="310896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263640" y="1783080"/>
            <a:ext cx="1133856" cy="0"/>
          </a:xfrm>
          <a:prstGeom prst="line">
            <a:avLst/>
          </a:prstGeom>
          <a:noFill/>
          <a:ln w="15875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406640" y="1463040"/>
            <a:ext cx="640080" cy="64008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627632"/>
            <a:ext cx="310896" cy="310896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 flipV="1">
            <a:off x="7726680" y="1115568"/>
            <a:ext cx="0" cy="347472"/>
          </a:xfrm>
          <a:prstGeom prst="line">
            <a:avLst/>
          </a:prstGeom>
          <a:noFill/>
          <a:ln w="12700">
            <a:solidFill>
              <a:srgbClr val="34D399">
                <a:alpha val="80000"/>
              </a:srgbClr>
            </a:solidFill>
            <a:prstDash val="dash"/>
          </a:ln>
        </p:spPr>
      </p:sp>
      <p:sp>
        <p:nvSpPr>
          <p:cNvPr id="35" name="Shape 31"/>
          <p:cNvSpPr/>
          <p:nvPr/>
        </p:nvSpPr>
        <p:spPr>
          <a:xfrm flipH="1">
            <a:off x="1417320" y="1115568"/>
            <a:ext cx="6309360" cy="0"/>
          </a:xfrm>
          <a:prstGeom prst="line">
            <a:avLst/>
          </a:prstGeom>
          <a:noFill/>
          <a:ln w="12700">
            <a:solidFill>
              <a:srgbClr val="34D399">
                <a:alpha val="80000"/>
              </a:srgbClr>
            </a:solidFill>
            <a:prstDash val="dash"/>
          </a:ln>
        </p:spPr>
      </p:sp>
      <p:sp>
        <p:nvSpPr>
          <p:cNvPr id="36" name="Shape 32"/>
          <p:cNvSpPr/>
          <p:nvPr/>
        </p:nvSpPr>
        <p:spPr>
          <a:xfrm>
            <a:off x="1417320" y="1115568"/>
            <a:ext cx="0" cy="402336"/>
          </a:xfrm>
          <a:prstGeom prst="line">
            <a:avLst/>
          </a:prstGeom>
          <a:noFill/>
          <a:ln w="12700">
            <a:solidFill>
              <a:srgbClr val="34D399">
                <a:alpha val="80000"/>
              </a:srgbClr>
            </a:solidFill>
            <a:prstDash val="dash"/>
            <a:tailEnd type="triangle"/>
          </a:ln>
        </p:spPr>
      </p:sp>
      <p:sp>
        <p:nvSpPr>
          <p:cNvPr id="37" name="Text 33"/>
          <p:cNvSpPr txBox="1"/>
          <p:nvPr/>
        </p:nvSpPr>
        <p:spPr>
          <a:xfrm>
            <a:off x="4297680" y="960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recall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457200" y="269748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40080" y="2880360"/>
            <a:ext cx="329184" cy="329184"/>
          </a:xfrm>
          <a:prstGeom prst="ellipse">
            <a:avLst/>
          </a:prstGeom>
          <a:solidFill>
            <a:srgbClr val="22D3EE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4008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1719072" y="2862072"/>
            <a:ext cx="475488" cy="475488"/>
          </a:xfrm>
          <a:prstGeom prst="ellipse">
            <a:avLst/>
          </a:prstGeom>
          <a:solidFill>
            <a:srgbClr val="22D3EE">
              <a:alpha val="14000"/>
            </a:srgbClr>
          </a:solidFill>
          <a:ln w="9525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944" y="2980944"/>
            <a:ext cx="237744" cy="237744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640080" y="34472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Fork</a:t>
            </a:r>
            <a:endParaRPr lang="en-US" sz="1600" dirty="0"/>
          </a:p>
        </p:txBody>
      </p:sp>
      <p:sp>
        <p:nvSpPr>
          <p:cNvPr id="44" name="Text 39"/>
          <p:cNvSpPr txBox="1"/>
          <p:nvPr/>
        </p:nvSpPr>
        <p:spPr>
          <a:xfrm>
            <a:off x="640080" y="3813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root, one fork per hypothesis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2560320" y="269748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2743200" y="2880360"/>
            <a:ext cx="329184" cy="329184"/>
          </a:xfrm>
          <a:prstGeom prst="ellipse">
            <a:avLst/>
          </a:prstGeom>
          <a:solidFill>
            <a:srgbClr val="A5B4FC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274320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3822192" y="2862072"/>
            <a:ext cx="475488" cy="475488"/>
          </a:xfrm>
          <a:prstGeom prst="ellipse">
            <a:avLst/>
          </a:prstGeom>
          <a:solidFill>
            <a:srgbClr val="A5B4FC">
              <a:alpha val="14000"/>
            </a:srgbClr>
          </a:solidFill>
          <a:ln w="9525">
            <a:solidFill>
              <a:srgbClr val="A5B4FC">
                <a:alpha val="40000"/>
              </a:srgbClr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4" y="2980944"/>
            <a:ext cx="237744" cy="237744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2743200" y="34472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Explore</a:t>
            </a:r>
            <a:endParaRPr lang="en-US" sz="1600" dirty="0"/>
          </a:p>
        </p:txBody>
      </p:sp>
      <p:sp>
        <p:nvSpPr>
          <p:cNvPr id="51" name="Text 45"/>
          <p:cNvSpPr txBox="1"/>
          <p:nvPr/>
        </p:nvSpPr>
        <p:spPr>
          <a:xfrm>
            <a:off x="2743200" y="3813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 agents at once: SQL · BM25 · vector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4663440" y="269748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4846320" y="2880360"/>
            <a:ext cx="329184" cy="329184"/>
          </a:xfrm>
          <a:prstGeom prst="ellipse">
            <a:avLst/>
          </a:prstGeom>
          <a:solidFill>
            <a:srgbClr val="FBBF24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484632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5925312" y="2862072"/>
            <a:ext cx="475488" cy="475488"/>
          </a:xfrm>
          <a:prstGeom prst="ellipse">
            <a:avLst/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2980944"/>
            <a:ext cx="237744" cy="237744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4846320" y="34472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Synthesize</a:t>
            </a:r>
            <a:endParaRPr lang="en-US" sz="1600" dirty="0"/>
          </a:p>
        </p:txBody>
      </p:sp>
      <p:sp>
        <p:nvSpPr>
          <p:cNvPr id="58" name="Text 51"/>
          <p:cNvSpPr txBox="1"/>
          <p:nvPr/>
        </p:nvSpPr>
        <p:spPr>
          <a:xfrm>
            <a:off x="4846320" y="3813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report, every claim cites [branch:id]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6766560" y="269748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6949440" y="2880360"/>
            <a:ext cx="329184" cy="329184"/>
          </a:xfrm>
          <a:prstGeom prst="ellipse">
            <a:avLst/>
          </a:prstGeom>
          <a:solidFill>
            <a:srgbClr val="34D399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694944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100" dirty="0"/>
          </a:p>
        </p:txBody>
      </p:sp>
      <p:sp>
        <p:nvSpPr>
          <p:cNvPr id="62" name="Shape 55"/>
          <p:cNvSpPr/>
          <p:nvPr/>
        </p:nvSpPr>
        <p:spPr>
          <a:xfrm>
            <a:off x="8028432" y="2862072"/>
            <a:ext cx="475488" cy="475488"/>
          </a:xfrm>
          <a:prstGeom prst="ellipse">
            <a:avLst/>
          </a:prstGeom>
          <a:solidFill>
            <a:srgbClr val="34D399">
              <a:alpha val="14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980944"/>
            <a:ext cx="237744" cy="237744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6949440" y="34472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Remember</a:t>
            </a:r>
            <a:endParaRPr lang="en-US" sz="1600" dirty="0"/>
          </a:p>
        </p:txBody>
      </p:sp>
      <p:sp>
        <p:nvSpPr>
          <p:cNvPr id="65" name="Text 57"/>
          <p:cNvSpPr txBox="1"/>
          <p:nvPr/>
        </p:nvSpPr>
        <p:spPr>
          <a:xfrm>
            <a:off x="6949440" y="3813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Cognee memory primes the next plan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LIVE DEMO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Mission Control: watch the swarm run.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10</a:t>
            </a:r>
            <a:endParaRPr lang="en-US" sz="850" dirty="0"/>
          </a:p>
        </p:txBody>
      </p:sp>
      <p:pic>
        <p:nvPicPr>
          <p:cNvPr id="6" name="Image 0" descr="/Users/moorthy/Downloads/Projects/Data&amp;AI Hackathon/parallax/docs/assets/screenshots/mission-control-sa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705856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5705856" cy="3566160"/>
          </a:xfrm>
          <a:prstGeom prst="rect">
            <a:avLst/>
          </a:prstGeom>
          <a:solidFill>
            <a:srgbClr val="07090F">
              <a:alpha val="0"/>
            </a:srgbClr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1903" y="1864644"/>
            <a:ext cx="4336451" cy="267462"/>
          </a:xfrm>
          <a:prstGeom prst="rect">
            <a:avLst/>
          </a:prstGeom>
          <a:solidFill>
            <a:srgbClr val="07090F">
              <a:alpha val="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887" y="1736628"/>
            <a:ext cx="256032" cy="256032"/>
          </a:xfrm>
          <a:prstGeom prst="ellipse">
            <a:avLst/>
          </a:prstGeom>
          <a:solidFill>
            <a:srgbClr val="22D3EE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3887" y="17366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41903" y="2185599"/>
            <a:ext cx="998525" cy="2432121"/>
          </a:xfrm>
          <a:prstGeom prst="rect">
            <a:avLst/>
          </a:prstGeom>
          <a:solidFill>
            <a:srgbClr val="07090F">
              <a:alpha val="0"/>
            </a:srgbClr>
          </a:solidFill>
          <a:ln w="15875">
            <a:solidFill>
              <a:srgbClr val="A5B4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2412" y="2057583"/>
            <a:ext cx="256032" cy="256032"/>
          </a:xfrm>
          <a:prstGeom prst="ellipse">
            <a:avLst/>
          </a:prstGeom>
          <a:solidFill>
            <a:srgbClr val="A5B4FC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12412" y="20575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197486" y="2185599"/>
            <a:ext cx="1611904" cy="2432121"/>
          </a:xfrm>
          <a:prstGeom prst="rect">
            <a:avLst/>
          </a:prstGeom>
          <a:solidFill>
            <a:srgbClr val="07090F">
              <a:alpha val="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81374" y="2057583"/>
            <a:ext cx="256032" cy="256032"/>
          </a:xfrm>
          <a:prstGeom prst="ellipse">
            <a:avLst/>
          </a:prstGeom>
          <a:solidFill>
            <a:srgbClr val="34D399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81374" y="20575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873581" y="2185599"/>
            <a:ext cx="1604772" cy="2432121"/>
          </a:xfrm>
          <a:prstGeom prst="rect">
            <a:avLst/>
          </a:prstGeom>
          <a:solidFill>
            <a:srgbClr val="07090F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50337" y="2057583"/>
            <a:ext cx="256032" cy="256032"/>
          </a:xfrm>
          <a:prstGeom prst="ellipse">
            <a:avLst/>
          </a:prstGeom>
          <a:solidFill>
            <a:srgbClr val="FBBF24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50337" y="20575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355080" y="1188720"/>
            <a:ext cx="310896" cy="310896"/>
          </a:xfrm>
          <a:prstGeom prst="ellipse">
            <a:avLst/>
          </a:prstGeom>
          <a:solidFill>
            <a:srgbClr val="22D3EE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5508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81228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Metrics strip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812280" y="1463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peak concurrency, p50 / p95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355080" y="1993392"/>
            <a:ext cx="310896" cy="310896"/>
          </a:xfrm>
          <a:prstGeom prst="ellipse">
            <a:avLst/>
          </a:prstGeom>
          <a:solidFill>
            <a:srgbClr val="A5B4FC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5508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812280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Lineage tree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812280" y="22677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forks from GET /lineage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55080" y="2798064"/>
            <a:ext cx="310896" cy="310896"/>
          </a:xfrm>
          <a:prstGeom prst="ellipse">
            <a:avLst/>
          </a:prstGeom>
          <a:solidFill>
            <a:srgbClr val="34D399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55080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812280" y="27980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cards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812280" y="30723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think → SQL → observe → finding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355080" y="3602736"/>
            <a:ext cx="310896" cy="310896"/>
          </a:xfrm>
          <a:prstGeom prst="ellipse">
            <a:avLst/>
          </a:prstGeom>
          <a:solidFill>
            <a:srgbClr val="FBBF24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5508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90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812280" y="3602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Cited report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6812280" y="38770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[branch:id] chips jump to evidence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355080" y="43708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run: 5 agents, Ollama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ARCHITECTURE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cloud piece has a zero-key local twin.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10</a:t>
            </a:r>
            <a:endParaRPr lang="en-US" sz="850" dirty="0"/>
          </a:p>
        </p:txBody>
      </p:sp>
      <p:pic>
        <p:nvPicPr>
          <p:cNvPr id="6" name="Image 0" descr="/Users/moorthy/Downloads/Projects/Data&amp;AI Hackathon/parallax/docs/assets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577840" cy="34861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5577840" cy="3486150"/>
          </a:xfrm>
          <a:prstGeom prst="rect">
            <a:avLst/>
          </a:prstGeom>
          <a:solidFill>
            <a:srgbClr val="07090F">
              <a:alpha val="0"/>
            </a:srgbClr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1115568"/>
            <a:ext cx="438912" cy="438912"/>
          </a:xfrm>
          <a:prstGeom prst="ellipse">
            <a:avLst/>
          </a:prstGeom>
          <a:solidFill>
            <a:srgbClr val="A5B4FC">
              <a:alpha val="14000"/>
            </a:srgbClr>
          </a:solidFill>
          <a:ln w="9525">
            <a:solidFill>
              <a:srgbClr val="A5B4FC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22529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1228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SSE-driven UI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1228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Next.js ⇄ FastAPI, replay then live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263640" y="1984248"/>
            <a:ext cx="438912" cy="438912"/>
          </a:xfrm>
          <a:prstGeom prst="ellipse">
            <a:avLst/>
          </a:prstGeom>
          <a:solidFill>
            <a:srgbClr val="22D3EE">
              <a:alpha val="14000"/>
            </a:srgbClr>
          </a:solidFill>
          <a:ln w="9525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09397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122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DataEngine protocol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81228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Hotdata over HTTP · DuckDB locally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263640" y="2852928"/>
            <a:ext cx="438912" cy="438912"/>
          </a:xfrm>
          <a:prstGeom prst="ellipse">
            <a:avLst/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296265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LLM router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812280" y="3108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rocketride → anthropic → ollama, per call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263640" y="3721608"/>
            <a:ext cx="438912" cy="438912"/>
          </a:xfrm>
          <a:prstGeom prst="ellipse">
            <a:avLst/>
          </a:prstGeom>
          <a:solidFill>
            <a:srgbClr val="34D399">
              <a:alpha val="14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831336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1228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protocol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81228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Cognee graph · local JSON fallback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· HOTDATA · BEST USE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Many agents, many forks, no contention.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10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“…multiple agents or users need to search, query, or analyze data concurrently.”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V="1">
            <a:off x="1472184" y="1691640"/>
            <a:ext cx="1636776" cy="1280160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472184" y="2331720"/>
            <a:ext cx="1636776" cy="640080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72184" y="2971800"/>
            <a:ext cx="1636776" cy="0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2184" y="2971800"/>
            <a:ext cx="1636776" cy="640080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2184" y="2971800"/>
            <a:ext cx="1636776" cy="1280160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1365" y="2598725"/>
            <a:ext cx="746150" cy="74615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8408" y="2715768"/>
            <a:ext cx="512064" cy="512064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34640"/>
            <a:ext cx="274320" cy="274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055925" y="1501445"/>
            <a:ext cx="380390" cy="380390"/>
          </a:xfrm>
          <a:prstGeom prst="ellipse">
            <a:avLst/>
          </a:prstGeom>
          <a:solidFill>
            <a:srgbClr val="A5B4FC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27248" y="1572768"/>
            <a:ext cx="237744" cy="237744"/>
          </a:xfrm>
          <a:prstGeom prst="ellipse">
            <a:avLst/>
          </a:prstGeom>
          <a:solidFill>
            <a:srgbClr val="07090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96194" y="1641714"/>
            <a:ext cx="99852" cy="99852"/>
          </a:xfrm>
          <a:prstGeom prst="ellipse">
            <a:avLst/>
          </a:prstGeom>
          <a:solidFill>
            <a:srgbClr val="A5B4FC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66160" y="156362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A5B4FC">
              <a:alpha val="12000"/>
            </a:srgbClr>
          </a:solidFill>
          <a:ln w="9525">
            <a:solidFill>
              <a:srgbClr val="A5B4FC">
                <a:alpha val="55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1563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055925" y="2141525"/>
            <a:ext cx="380390" cy="38039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27248" y="2212848"/>
            <a:ext cx="237744" cy="237744"/>
          </a:xfrm>
          <a:prstGeom prst="ellipse">
            <a:avLst/>
          </a:prstGeom>
          <a:solidFill>
            <a:srgbClr val="07090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96194" y="2281794"/>
            <a:ext cx="99852" cy="99852"/>
          </a:xfrm>
          <a:prstGeom prst="ellipse">
            <a:avLst/>
          </a:prstGeom>
          <a:solidFill>
            <a:srgbClr val="22D3EE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66160" y="220370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2D3EE">
              <a:alpha val="12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66160" y="22037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BM25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055925" y="2781605"/>
            <a:ext cx="380390" cy="380390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127248" y="2852928"/>
            <a:ext cx="237744" cy="237744"/>
          </a:xfrm>
          <a:prstGeom prst="ellipse">
            <a:avLst/>
          </a:prstGeom>
          <a:solidFill>
            <a:srgbClr val="07090F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196194" y="2921874"/>
            <a:ext cx="99852" cy="99852"/>
          </a:xfrm>
          <a:prstGeom prst="ellipse">
            <a:avLst/>
          </a:prstGeom>
          <a:solidFill>
            <a:srgbClr val="34D399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284378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566160" y="28437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VECTOR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055925" y="3421685"/>
            <a:ext cx="380390" cy="380390"/>
          </a:xfrm>
          <a:prstGeom prst="ellipse">
            <a:avLst/>
          </a:prstGeom>
          <a:solidFill>
            <a:srgbClr val="A5B4FC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27248" y="3493008"/>
            <a:ext cx="237744" cy="237744"/>
          </a:xfrm>
          <a:prstGeom prst="ellipse">
            <a:avLst/>
          </a:prstGeom>
          <a:solidFill>
            <a:srgbClr val="07090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96194" y="3561954"/>
            <a:ext cx="99852" cy="99852"/>
          </a:xfrm>
          <a:prstGeom prst="ellipse">
            <a:avLst/>
          </a:prstGeom>
          <a:solidFill>
            <a:srgbClr val="A5B4FC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66160" y="34838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A5B4FC">
              <a:alpha val="12000"/>
            </a:srgbClr>
          </a:solidFill>
          <a:ln w="9525">
            <a:solidFill>
              <a:srgbClr val="A5B4FC">
                <a:alpha val="5500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566160" y="3483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SQL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055925" y="4061765"/>
            <a:ext cx="380390" cy="380390"/>
          </a:xfrm>
          <a:prstGeom prst="ellipse">
            <a:avLst/>
          </a:prstGeom>
          <a:solidFill>
            <a:srgbClr val="FBBF24">
              <a:alpha val="10000"/>
            </a:srgbClr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127248" y="4133088"/>
            <a:ext cx="237744" cy="237744"/>
          </a:xfrm>
          <a:prstGeom prst="ellipse">
            <a:avLst/>
          </a:prstGeom>
          <a:solidFill>
            <a:srgbClr val="07090F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196194" y="4202034"/>
            <a:ext cx="99852" cy="99852"/>
          </a:xfrm>
          <a:prstGeom prst="ellipse">
            <a:avLst/>
          </a:prstGeom>
          <a:solidFill>
            <a:srgbClr val="FBBF24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566160" y="412394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566160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MIXED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44805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fork · lineage · bm25_search() · vector_search()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120640" y="137160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30352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BURST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530352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</a:t>
            </a:r>
            <a:endParaRPr lang="en-US" sz="3400" dirty="0"/>
          </a:p>
        </p:txBody>
      </p:sp>
      <p:sp>
        <p:nvSpPr>
          <p:cNvPr id="44" name="Text 41"/>
          <p:cNvSpPr txBox="1"/>
          <p:nvPr/>
        </p:nvSpPr>
        <p:spPr>
          <a:xfrm>
            <a:off x="530352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reads · 5 forks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694944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</a:t>
            </a:r>
            <a:endParaRPr lang="en-US" sz="3400" dirty="0"/>
          </a:p>
        </p:txBody>
      </p:sp>
      <p:sp>
        <p:nvSpPr>
          <p:cNvPr id="46" name="Text 43"/>
          <p:cNvSpPr txBox="1"/>
          <p:nvPr/>
        </p:nvSpPr>
        <p:spPr>
          <a:xfrm>
            <a:off x="694944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in-flight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5303520" y="29992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ms</a:t>
            </a:r>
            <a:endParaRPr lang="en-US" sz="3400" dirty="0"/>
          </a:p>
        </p:txBody>
      </p:sp>
      <p:sp>
        <p:nvSpPr>
          <p:cNvPr id="48" name="Text 45"/>
          <p:cNvSpPr txBox="1"/>
          <p:nvPr/>
        </p:nvSpPr>
        <p:spPr>
          <a:xfrm>
            <a:off x="530352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p50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949440" y="29992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ms</a:t>
            </a:r>
            <a:endParaRPr lang="en-US" sz="3400" dirty="0"/>
          </a:p>
        </p:txBody>
      </p:sp>
      <p:sp>
        <p:nvSpPr>
          <p:cNvPr id="50" name="Text 47"/>
          <p:cNvSpPr txBox="1"/>
          <p:nvPr/>
        </p:nvSpPr>
        <p:spPr>
          <a:xfrm>
            <a:off x="694944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p95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120640" y="4443984"/>
            <a:ext cx="2156155" cy="237744"/>
          </a:xfrm>
          <a:prstGeom prst="roundRect">
            <a:avLst>
              <a:gd name="adj" fmla="val 19231"/>
            </a:avLst>
          </a:prstGeom>
          <a:solidFill>
            <a:srgbClr val="131B2E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230368" y="4443984"/>
            <a:ext cx="19732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backend/app/data/hotdata.py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· ROCKETRIDE · BEST USE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analyst is a pipeline. Nothing to host.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10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“…deploy an AI pipeline without managing any infrastructure.”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0E1322">
              <a:alpha val="60000"/>
            </a:srgbClr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745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131B2E"/>
          </a:solidFill>
          <a:ln w="9525">
            <a:solidFill>
              <a:srgbClr val="E6E9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74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9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chat_1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17373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1865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agent_rocketride_1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Analyst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24528" y="1874520"/>
            <a:ext cx="1216152" cy="457200"/>
          </a:xfrm>
          <a:prstGeom prst="roundRect">
            <a:avLst>
              <a:gd name="adj" fmla="val 16000"/>
            </a:avLst>
          </a:prstGeom>
          <a:solidFill>
            <a:srgbClr val="131B2E"/>
          </a:solidFill>
          <a:ln w="9525">
            <a:solidFill>
              <a:srgbClr val="E6E9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187452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9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response_answers_1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37360" y="2103120"/>
            <a:ext cx="502920" cy="0"/>
          </a:xfrm>
          <a:prstGeom prst="line">
            <a:avLst/>
          </a:prstGeom>
          <a:noFill/>
          <a:ln w="15875">
            <a:solidFill>
              <a:srgbClr val="9A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77640" y="2103120"/>
            <a:ext cx="246888" cy="0"/>
          </a:xfrm>
          <a:prstGeom prst="line">
            <a:avLst/>
          </a:prstGeom>
          <a:noFill/>
          <a:ln w="15875">
            <a:solidFill>
              <a:srgbClr val="9A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" y="32918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31B2E"/>
          </a:solidFill>
          <a:ln w="9525">
            <a:solidFill>
              <a:srgbClr val="A5B4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5B4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llm_anthropic_1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flipV="1">
            <a:off x="1234440" y="2468880"/>
            <a:ext cx="1417320" cy="822960"/>
          </a:xfrm>
          <a:prstGeom prst="line">
            <a:avLst/>
          </a:prstGeom>
          <a:noFill/>
          <a:ln w="12700">
            <a:solidFill>
              <a:srgbClr val="A5B4FC">
                <a:alpha val="80000"/>
              </a:srgbClr>
            </a:solidFill>
            <a:prstDash val="dash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874520" y="329184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31B2E"/>
          </a:solidFill>
          <a:ln w="9525">
            <a:solidFill>
              <a:srgbClr val="9AA3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74520" y="3291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memory_internal_1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 flipV="1">
            <a:off x="2446020" y="2468880"/>
            <a:ext cx="480060" cy="822960"/>
          </a:xfrm>
          <a:prstGeom prst="line">
            <a:avLst/>
          </a:prstGeom>
          <a:noFill/>
          <a:ln w="12700">
            <a:solidFill>
              <a:srgbClr val="9AA3B8">
                <a:alpha val="80000"/>
              </a:srgbClr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0" y="329184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131B2E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08960" y="3291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db_hotdata_1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3291840" y="2468880"/>
            <a:ext cx="342900" cy="822960"/>
          </a:xfrm>
          <a:prstGeom prst="line">
            <a:avLst/>
          </a:prstGeom>
          <a:noFill/>
          <a:ln w="12700">
            <a:solidFill>
              <a:srgbClr val="22D3EE">
                <a:alpha val="80000"/>
              </a:srgbClr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51960" y="32918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31B2E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5196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tool_cognee_1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3566160" y="2468880"/>
            <a:ext cx="1280160" cy="822960"/>
          </a:xfrm>
          <a:prstGeom prst="line">
            <a:avLst/>
          </a:prstGeom>
          <a:noFill/>
          <a:ln w="12700">
            <a:solidFill>
              <a:srgbClr val="34D399">
                <a:alpha val="80000"/>
              </a:srgbClr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40080" y="4023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4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pipelines/parallax-analyst.pipe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06440" y="137160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1536192"/>
            <a:ext cx="420624" cy="420624"/>
          </a:xfrm>
          <a:prstGeom prst="ellipse">
            <a:avLst/>
          </a:prstGeom>
          <a:solidFill>
            <a:srgbClr val="A5B4FC">
              <a:alpha val="14000"/>
            </a:srgbClr>
          </a:solidFill>
          <a:ln w="9525">
            <a:solidFill>
              <a:srgbClr val="A5B4FC">
                <a:alpha val="40000"/>
              </a:srgbClr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641348"/>
            <a:ext cx="210312" cy="21031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6510528" y="1517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parallax-llm.pipe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510528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LLM call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989320" y="2267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chat → llm_anthropic → response_answers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806440" y="292608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89320" y="3090672"/>
            <a:ext cx="420624" cy="420624"/>
          </a:xfrm>
          <a:prstGeom prst="ellipse">
            <a:avLst/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3195828"/>
            <a:ext cx="210312" cy="210312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510528" y="3072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RocketRide Cloud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537960" y="3410712"/>
            <a:ext cx="91440" cy="91440"/>
          </a:xfrm>
          <a:prstGeom prst="ellipse">
            <a:avLst/>
          </a:prstGeom>
          <a:solidFill>
            <a:srgbClr val="34D399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693408" y="3337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deployable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5989320" y="3822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ROCKETRIDE_URI=https://api.rocketride.ai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5806440" y="4443984"/>
            <a:ext cx="2562149" cy="237744"/>
          </a:xfrm>
          <a:prstGeom prst="roundRect">
            <a:avLst>
              <a:gd name="adj" fmla="val 19231"/>
            </a:avLst>
          </a:prstGeom>
          <a:solidFill>
            <a:srgbClr val="131B2E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916168" y="4443984"/>
            <a:ext cx="23792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backend/app/llm/rocketride_llm.py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· COGNEE · BEST USE  +  SNYK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Cognee remembers. Snyk watches.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10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“Build persistent memory and context for your AI agents.”</a:t>
            </a:r>
            <a:endParaRPr lang="en-US" sz="1050" dirty="0"/>
          </a:p>
        </p:txBody>
      </p:sp>
      <p:pic>
        <p:nvPicPr>
          <p:cNvPr id="7" name="Image 0" descr="/private/tmp/claude-501/-Users-moorthy-Downloads-Projects-Data-AI-Hackathon/41860f9d-7adf-4e2e-ae5e-3f746a1c44d7/scratchpad/deckbuild/assets/memory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846320" cy="24610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371600"/>
            <a:ext cx="4846320" cy="2461022"/>
          </a:xfrm>
          <a:prstGeom prst="rect">
            <a:avLst/>
          </a:prstGeom>
          <a:solidFill>
            <a:srgbClr val="07090F">
              <a:alpha val="0"/>
            </a:srgbClr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4041648"/>
            <a:ext cx="1097280" cy="310896"/>
          </a:xfrm>
          <a:prstGeom prst="roundRect">
            <a:avLst>
              <a:gd name="adj" fmla="val 41176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041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recall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31720" y="4041648"/>
            <a:ext cx="1097280" cy="310896"/>
          </a:xfrm>
          <a:prstGeom prst="roundRect">
            <a:avLst>
              <a:gd name="adj" fmla="val 41176"/>
            </a:avLst>
          </a:prstGeom>
          <a:solidFill>
            <a:srgbClr val="A5B4FC">
              <a:alpha val="12000"/>
            </a:srgbClr>
          </a:solidFill>
          <a:ln w="9525">
            <a:solidFill>
              <a:srgbClr val="A5B4FC">
                <a:alpha val="55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31720" y="4041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06240" y="4041648"/>
            <a:ext cx="1097280" cy="310896"/>
          </a:xfrm>
          <a:prstGeom prst="roundRect">
            <a:avLst>
              <a:gd name="adj" fmla="val 41176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06240" y="4041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remember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600200" y="4197096"/>
            <a:ext cx="685800" cy="0"/>
          </a:xfrm>
          <a:prstGeom prst="line">
            <a:avLst/>
          </a:prstGeom>
          <a:noFill/>
          <a:ln w="15875">
            <a:solidFill>
              <a:srgbClr val="9AA3B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74720" y="4197096"/>
            <a:ext cx="685800" cy="0"/>
          </a:xfrm>
          <a:prstGeom prst="line">
            <a:avLst/>
          </a:prstGeom>
          <a:noFill/>
          <a:ln w="15875">
            <a:solidFill>
              <a:srgbClr val="9AA3B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754880" y="4370832"/>
            <a:ext cx="0" cy="201168"/>
          </a:xfrm>
          <a:prstGeom prst="line">
            <a:avLst/>
          </a:prstGeom>
          <a:noFill/>
          <a:ln w="12700">
            <a:solidFill>
              <a:srgbClr val="34D399">
                <a:alpha val="80000"/>
              </a:srgbClr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 flipH="1">
            <a:off x="1005840" y="4572000"/>
            <a:ext cx="3749040" cy="0"/>
          </a:xfrm>
          <a:prstGeom prst="line">
            <a:avLst/>
          </a:prstGeom>
          <a:noFill/>
          <a:ln w="12700">
            <a:solidFill>
              <a:srgbClr val="34D399">
                <a:alpha val="80000"/>
              </a:srgbClr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 flipV="1">
            <a:off x="1005840" y="4370832"/>
            <a:ext cx="0" cy="201168"/>
          </a:xfrm>
          <a:prstGeom prst="line">
            <a:avLst/>
          </a:prstGeom>
          <a:noFill/>
          <a:ln w="12700">
            <a:solidFill>
              <a:srgbClr val="34D399">
                <a:alpha val="80000"/>
              </a:srgbClr>
            </a:solidFill>
            <a:prstDash val="dash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577840" y="137160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0" y="1536192"/>
            <a:ext cx="420624" cy="420624"/>
          </a:xfrm>
          <a:prstGeom prst="ellipse">
            <a:avLst/>
          </a:prstGeom>
          <a:solidFill>
            <a:srgbClr val="34D399">
              <a:alpha val="14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1641348"/>
            <a:ext cx="210312" cy="2103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291072" y="1517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Primes the next plan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760720" y="206654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 → cognify → search(GRAPH_COMPLETION)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 flipV="1">
            <a:off x="5989320" y="2450592"/>
            <a:ext cx="457200" cy="155448"/>
          </a:xfrm>
          <a:prstGeom prst="line">
            <a:avLst/>
          </a:prstGeom>
          <a:noFill/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46520" y="2450592"/>
            <a:ext cx="411480" cy="246888"/>
          </a:xfrm>
          <a:prstGeom prst="line">
            <a:avLst/>
          </a:prstGeom>
          <a:noFill/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 flipV="1">
            <a:off x="6858000" y="2468880"/>
            <a:ext cx="411480" cy="228600"/>
          </a:xfrm>
          <a:prstGeom prst="line">
            <a:avLst/>
          </a:prstGeom>
          <a:noFill/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46520" y="2450592"/>
            <a:ext cx="822960" cy="18288"/>
          </a:xfrm>
          <a:prstGeom prst="line">
            <a:avLst/>
          </a:prstGeom>
          <a:noFill/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269480" y="2468880"/>
            <a:ext cx="457200" cy="201168"/>
          </a:xfrm>
          <a:prstGeom prst="line">
            <a:avLst/>
          </a:prstGeom>
          <a:noFill/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 flipV="1">
            <a:off x="7726680" y="2487168"/>
            <a:ext cx="457200" cy="182880"/>
          </a:xfrm>
          <a:prstGeom prst="line">
            <a:avLst/>
          </a:prstGeom>
          <a:noFill/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 flipV="1">
            <a:off x="6858000" y="2670048"/>
            <a:ext cx="868680" cy="27432"/>
          </a:xfrm>
          <a:prstGeom prst="line">
            <a:avLst/>
          </a:prstGeom>
          <a:noFill/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939028" y="2555748"/>
            <a:ext cx="100584" cy="100584"/>
          </a:xfrm>
          <a:prstGeom prst="ellipse">
            <a:avLst/>
          </a:prstGeom>
          <a:solidFill>
            <a:srgbClr val="13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73368" y="2377440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807708" y="2647188"/>
            <a:ext cx="100584" cy="100584"/>
          </a:xfrm>
          <a:prstGeom prst="ellipse">
            <a:avLst/>
          </a:prstGeom>
          <a:solidFill>
            <a:srgbClr val="13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219188" y="2418588"/>
            <a:ext cx="100584" cy="100584"/>
          </a:xfrm>
          <a:prstGeom prst="ellipse">
            <a:avLst/>
          </a:prstGeom>
          <a:solidFill>
            <a:srgbClr val="13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676388" y="2619756"/>
            <a:ext cx="100584" cy="100584"/>
          </a:xfrm>
          <a:prstGeom prst="ellipse">
            <a:avLst/>
          </a:prstGeom>
          <a:solidFill>
            <a:srgbClr val="13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133588" y="2436876"/>
            <a:ext cx="100584" cy="100584"/>
          </a:xfrm>
          <a:prstGeom prst="ellipse">
            <a:avLst/>
          </a:prstGeom>
          <a:solidFill>
            <a:srgbClr val="13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577840" y="310896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760720" y="3273552"/>
            <a:ext cx="420624" cy="420624"/>
          </a:xfrm>
          <a:prstGeom prst="ellipse">
            <a:avLst/>
          </a:prstGeom>
          <a:solidFill>
            <a:srgbClr val="A5B4FC">
              <a:alpha val="14000"/>
            </a:srgbClr>
          </a:solidFill>
          <a:ln w="9525">
            <a:solidFill>
              <a:srgbClr val="A5B4FC">
                <a:alpha val="40000"/>
              </a:srgbClr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3378708"/>
            <a:ext cx="210312" cy="210312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291072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Snyk on every push and PR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6318504" y="3593592"/>
            <a:ext cx="91440" cy="91440"/>
          </a:xfrm>
          <a:prstGeom prst="ellipse">
            <a:avLst/>
          </a:prstGeom>
          <a:solidFill>
            <a:srgbClr val="22D3EE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492240" y="3520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read-only SQL guard</a:t>
            </a:r>
            <a:endParaRPr lang="en-US" sz="950" dirty="0"/>
          </a:p>
        </p:txBody>
      </p:sp>
      <p:sp>
        <p:nvSpPr>
          <p:cNvPr id="44" name="Text 39"/>
          <p:cNvSpPr txBox="1"/>
          <p:nvPr/>
        </p:nvSpPr>
        <p:spPr>
          <a:xfrm>
            <a:off x="5760720" y="387705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.github/workflows/ci.yml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5577840" y="4443984"/>
            <a:ext cx="2697480" cy="237744"/>
          </a:xfrm>
          <a:prstGeom prst="roundRect">
            <a:avLst>
              <a:gd name="adj" fmla="val 19231"/>
            </a:avLst>
          </a:prstGeom>
          <a:solidFill>
            <a:srgbClr val="131B2E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5687568" y="44439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backend/app/memory/cognee_memory.py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· REAL SCALE · MEASURED IN LOCAL RUNS TODAY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Measured, not claimed.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07008"/>
            <a:ext cx="105156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647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p50 · burst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43100" y="109728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80260" y="1207008"/>
            <a:ext cx="105156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ms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080260" y="17647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p95 · burst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109728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207008"/>
            <a:ext cx="105156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7647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queries · 4 agents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395728"/>
            <a:ext cx="105156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1.2 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953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finding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43100" y="22860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80260" y="2395728"/>
            <a:ext cx="105156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65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2080260" y="2953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tests passing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22860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2395728"/>
            <a:ext cx="105156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6,102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2953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Airbnb listings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730752"/>
            <a:ext cx="420624" cy="420624"/>
          </a:xfrm>
          <a:prstGeom prst="ellipse">
            <a:avLst/>
          </a:prstGeom>
          <a:solidFill>
            <a:srgbClr val="22D3EE">
              <a:alpha val="14000"/>
            </a:srgbClr>
          </a:solidFill>
          <a:ln w="9525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835908"/>
            <a:ext cx="210312" cy="21031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8872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Zero-key mode: DuckDB + Ollama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41879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Hotdata→DuckDB · RocketRide→Anthropic→Ollama→fake · Cognee→JSON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029200" y="109728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212080" y="12435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212080" y="1645920"/>
            <a:ext cx="475488" cy="475488"/>
          </a:xfrm>
          <a:prstGeom prst="ellipse">
            <a:avLst/>
          </a:prstGeom>
          <a:solidFill>
            <a:srgbClr val="A5B4FC">
              <a:alpha val="14000"/>
            </a:srgbClr>
          </a:solidFill>
          <a:ln w="9525">
            <a:solidFill>
              <a:srgbClr val="A5B4FC">
                <a:alpha val="40000"/>
              </a:srgbClr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764792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8064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Merge branches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212080" y="2606040"/>
            <a:ext cx="475488" cy="475488"/>
          </a:xfrm>
          <a:prstGeom prst="ellipse">
            <a:avLst/>
          </a:prstGeom>
          <a:solidFill>
            <a:srgbClr val="22D3EE">
              <a:alpha val="14000"/>
            </a:srgbClr>
          </a:solidFill>
          <a:ln w="9525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2724912"/>
            <a:ext cx="237744" cy="23774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8064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Bulk 10k tenant DBs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5212080" y="3566160"/>
            <a:ext cx="475488" cy="475488"/>
          </a:xfrm>
          <a:prstGeom prst="ellipse">
            <a:avLst/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3685032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58064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One-click deploy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· TRY IT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Try it in three commands.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Parallax · Data &amp; AI Hackathon SF ·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0A0E18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325880"/>
            <a:ext cx="91440" cy="91440"/>
          </a:xfrm>
          <a:prstGeom prst="ellipse">
            <a:avLst/>
          </a:prstGeom>
          <a:solidFill>
            <a:srgbClr val="F87171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325880"/>
            <a:ext cx="91440" cy="91440"/>
          </a:xfrm>
          <a:prstGeom prst="ellipse">
            <a:avLst/>
          </a:prstGeom>
          <a:solidFill>
            <a:srgbClr val="FBBF24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" y="1325880"/>
            <a:ext cx="91440" cy="91440"/>
          </a:xfrm>
          <a:prstGeom prst="ellipse">
            <a:avLst/>
          </a:prstGeom>
          <a:solidFill>
            <a:srgbClr val="34D399"/>
          </a:solidFill>
          <a:ln w="1270">
            <a:solidFill>
              <a:srgbClr val="07090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627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E6E9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 clone https://github.com/vnmoorthy/parallax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1938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E6E9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parallax &amp;&amp; make setup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2494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E6E9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make demo</a:t>
            </a:r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# zero keys: DuckDB + fake LLM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560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http://localhost:3000</a:t>
            </a:r>
            <a:endParaRPr lang="en-US" sz="1100" dirty="0"/>
          </a:p>
        </p:txBody>
      </p:sp>
      <p:pic>
        <p:nvPicPr>
          <p:cNvPr id="14" name="Image 0" descr="/private/tmp/claude-501/-Users-moorthy-Downloads-Projects-Data-AI-Hackathon/41860f9d-7adf-4e2e-ae5e-3f746a1c44d7/scratchpad/deckbuild/assets/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2011680" cy="6096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39684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Many agents. Many branches. One answer.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79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in 8 hours at the Data &amp; AI Hackathon.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77840" y="118872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0E1322"/>
          </a:solidFill>
          <a:ln w="9525">
            <a:solidFill>
              <a:srgbClr val="1F27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06440" y="1389888"/>
            <a:ext cx="457200" cy="457200"/>
          </a:xfrm>
          <a:prstGeom prst="ellipse">
            <a:avLst/>
          </a:prstGeom>
          <a:solidFill>
            <a:srgbClr val="A5B4FC">
              <a:alpha val="14000"/>
            </a:srgbClr>
          </a:solidFill>
          <a:ln w="9525">
            <a:solidFill>
              <a:srgbClr val="A5B4FC">
                <a:alpha val="40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1504188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00800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Moorthy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0" y="1664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github.com/vnmoorthy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80644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github.com/vnmoorthy/parallax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80644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Thanks to</a:t>
            </a:r>
            <a:endParaRPr lang="en-US" sz="950" dirty="0"/>
          </a:p>
        </p:txBody>
      </p:sp>
      <p:pic>
        <p:nvPicPr>
          <p:cNvPr id="24" name="Image 2" descr="/private/tmp/claude-501/-Users-moorthy-Downloads-Projects-Data-AI-Hackathon/41860f9d-7adf-4e2e-ae5e-3f746a1c44d7/scratchpad/deckbuild/assets/pil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907792"/>
            <a:ext cx="2743200" cy="195279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8064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Devnovate · AWS Builder Loft, San Francisco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8064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7E8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job. Real AI. Real scale.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Parallax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Parallax · Many agents. Many branches. One answer.</dc:title>
  <dc:subject>Data &amp; AI Hackathon SF 2026 pitch deck</dc:subject>
  <dc:creator>Moorthy (vnmoorthy)</dc:creator>
  <cp:lastModifiedBy>Moorthy (vnmoorthy)</cp:lastModifiedBy>
  <cp:revision>1</cp:revision>
  <dcterms:created xsi:type="dcterms:W3CDTF">2026-09-11T22:26:05Z</dcterms:created>
  <dcterms:modified xsi:type="dcterms:W3CDTF">2026-09-11T22:26:05Z</dcterms:modified>
</cp:coreProperties>
</file>